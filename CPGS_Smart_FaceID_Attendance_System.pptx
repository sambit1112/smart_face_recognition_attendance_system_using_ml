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645920"/>
            <a:ext cx="9448495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34095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800" b="1">
                <a:solidFill>
                  <a:srgbClr val="38BDF8"/>
                </a:solidFill>
                <a:latin typeface="Segoe UI"/>
              </a:rPr>
              <a:t>CPGS Smart FaceID Attendance System</a:t>
            </a:r>
          </a:p>
          <a:p>
            <a:pPr algn="ctr">
              <a:spcBef>
                <a:spcPts val="1200"/>
              </a:spcBef>
            </a:pPr>
            <a:r>
              <a:rPr sz="1800">
                <a:solidFill>
                  <a:srgbClr val="F8FAFC"/>
                </a:solidFill>
                <a:latin typeface="Segoe UI"/>
              </a:rPr>
              <a:t>Advanced Computer Vision &amp; Deep Metric Learning Solution</a:t>
            </a:r>
          </a:p>
          <a:p>
            <a:pPr algn="ctr">
              <a:spcBef>
                <a:spcPts val="800"/>
              </a:spcBef>
            </a:pPr>
            <a:r>
              <a:rPr sz="1400">
                <a:solidFill>
                  <a:srgbClr val="94A3B8"/>
                </a:solidFill>
                <a:latin typeface="Segoe UI"/>
              </a:rPr>
              <a:t>Centre for Post Graduate Studies (CPGS)
Orissa University of Agriculture and Technology (OUAT)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389120"/>
            <a:ext cx="8534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818CF8"/>
                </a:solidFill>
                <a:latin typeface="Segoe UI"/>
              </a:rPr>
              <a:t>Python (Flask) | JavaScript | OpenCV + dlib | SQLite (SQLAlchemy) | openpyxl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Project Abstract &amp; Core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818CF8"/>
                </a:solidFill>
                <a:latin typeface="Segoe UI"/>
              </a:defRPr>
            </a:pPr>
            <a:r>
              <a:t>Project Abstract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The Challenge: </a:t>
            </a:r>
            <a:r>
              <a:rPr b="0" sz="1200">
                <a:solidFill>
                  <a:srgbClr val="F8FAFC"/>
                </a:solidFill>
                <a:latin typeface="Segoe UI"/>
              </a:rPr>
              <a:t>Traditional attendance systems (paper registers, card scanners) are slow, prone to errors, and highly susceptible to proxy registrations.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Proposed Solution: </a:t>
            </a:r>
            <a:r>
              <a:rPr b="0" sz="1200">
                <a:solidFill>
                  <a:srgbClr val="F8FAFC"/>
                </a:solidFill>
                <a:latin typeface="Segoe UI"/>
              </a:rPr>
              <a:t>A frictionless, zero-touch attendance tracker designed for CPGS, OUAT. Recognizes faces via camera feeds and logs details automatically.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Development Method: </a:t>
            </a:r>
            <a:r>
              <a:rPr b="0" sz="1200">
                <a:solidFill>
                  <a:srgbClr val="F8FAFC"/>
                </a:solidFill>
                <a:latin typeface="Segoe UI"/>
              </a:rPr>
              <a:t>Built using Evolutionary Prototyping, developing core ML recognition blocks first and iteratively integrating database and UI subsystems.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55448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3855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818CF8"/>
                </a:solidFill>
                <a:latin typeface="Segoe UI"/>
              </a:defRPr>
            </a:pPr>
            <a:r>
              <a:t>Core Subsystem Pillars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Face Recognition Engine: </a:t>
            </a:r>
            <a:r>
              <a:rPr b="0" sz="1200">
                <a:solidFill>
                  <a:srgbClr val="F8FAFC"/>
                </a:solidFill>
                <a:latin typeface="Segoe UI"/>
              </a:rPr>
              <a:t>Thread-decoupled OpenCV camera manager and dlib models detecting and matching multiple faces simultaneously.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Liveness Safeguards: </a:t>
            </a:r>
            <a:r>
              <a:rPr b="0" sz="1200">
                <a:solidFill>
                  <a:srgbClr val="F8FAFC"/>
                </a:solidFill>
                <a:latin typeface="Segoe UI"/>
              </a:rPr>
              <a:t>Texture analyses (Laplacian edge-checks) and physical blink trackers preventing photo prints or screen spoofs.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Relational Database: </a:t>
            </a:r>
            <a:r>
              <a:rPr b="0" sz="1200">
                <a:solidFill>
                  <a:srgbClr val="F8FAFC"/>
                </a:solidFill>
                <a:latin typeface="Segoe UI"/>
              </a:rPr>
              <a:t>SQLite database utilizing transaction logs, soft-deletion configurations, and SQLAlchemy models.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Admin Reporting: </a:t>
            </a:r>
            <a:r>
              <a:rPr b="0" sz="1200">
                <a:solidFill>
                  <a:srgbClr val="F8FAFC"/>
                </a:solidFill>
                <a:latin typeface="Segoe UI"/>
              </a:rPr>
              <a:t>Automated custom-styled Excel workbook generation (kpi metrics cards, status colors, and charts) via openpyxl.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Segoe UI"/>
              </a:defRPr>
            </a:pPr>
            <a:r>
              <a:t>FEASIBILITY &amp;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System Study: Problem Statement &amp;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818CF8"/>
                </a:solidFill>
                <a:latin typeface="Segoe UI"/>
              </a:defRPr>
            </a:pPr>
            <a:r>
              <a:t>Current Challenges (Manual System)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High Time Latency: </a:t>
            </a:r>
            <a:r>
              <a:rPr b="0" sz="1200">
                <a:solidFill>
                  <a:srgbClr val="F8FAFC"/>
                </a:solidFill>
                <a:latin typeface="Segoe UI"/>
              </a:rPr>
              <a:t>Roll calls consume 5 to 10 minutes per lecture hour, cumulative loss of hundreds of academic hours annually.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Proxy Vulnerabilities: </a:t>
            </a:r>
            <a:r>
              <a:rPr b="0" sz="1200">
                <a:solidFill>
                  <a:srgbClr val="F8FAFC"/>
                </a:solidFill>
                <a:latin typeface="Segoe UI"/>
              </a:rPr>
              <a:t>Students easily sign attendance sheets or answer roll calls for absent classmates.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Human Compilation Errors: </a:t>
            </a:r>
            <a:r>
              <a:rPr b="0" sz="1200">
                <a:solidFill>
                  <a:srgbClr val="F8FAFC"/>
                </a:solidFill>
                <a:latin typeface="Segoe UI"/>
              </a:rPr>
              <a:t>Manually keying attendance logs into tracking spreadsheets introduces typos and requires high administrative work.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Delayed Analytics: </a:t>
            </a:r>
            <a:r>
              <a:rPr b="0" sz="1200">
                <a:solidFill>
                  <a:srgbClr val="F8FAFC"/>
                </a:solidFill>
                <a:latin typeface="Segoe UI"/>
              </a:rPr>
              <a:t>Attendance registers remain in physical paper folders, reviewed only at the end of semesters.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55448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3855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818CF8"/>
                </a:solidFill>
                <a:latin typeface="Segoe UI"/>
              </a:defRPr>
            </a:pPr>
            <a:r>
              <a:t>Proposed Solution (CPGS-FaceID)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Zero-Touch Captures: </a:t>
            </a:r>
            <a:r>
              <a:rPr b="0" sz="1200">
                <a:solidFill>
                  <a:srgbClr val="F8FAFC"/>
                </a:solidFill>
                <a:latin typeface="Segoe UI"/>
              </a:rPr>
              <a:t>Webcam captures frames automatically, matching IDs and registration details within milliseconds.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Biometric Verification: </a:t>
            </a:r>
            <a:r>
              <a:rPr b="0" sz="1200">
                <a:solidFill>
                  <a:srgbClr val="F8FAFC"/>
                </a:solidFill>
                <a:latin typeface="Segoe UI"/>
              </a:rPr>
              <a:t>Verifies physical presence by cross-referencing deep feature representations (embeddings), eliminating proxies.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Relational Storage: </a:t>
            </a:r>
            <a:r>
              <a:rPr b="0" sz="1200">
                <a:solidFill>
                  <a:srgbClr val="F8FAFC"/>
                </a:solidFill>
                <a:latin typeface="Segoe UI"/>
              </a:rPr>
              <a:t>Stores events inside SQLite transactions, updating check-in and check-out times in a single unified record.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Real-time Broadcasts: </a:t>
            </a:r>
            <a:r>
              <a:rPr b="0" sz="1200">
                <a:solidFill>
                  <a:srgbClr val="F8FAFC"/>
                </a:solidFill>
                <a:latin typeface="Segoe UI"/>
              </a:rPr>
              <a:t>Pushes matching visual boxes and check-in tables to front-end dashboards via Socket.IO.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Segoe UI"/>
              </a:defRPr>
            </a:pPr>
            <a:r>
              <a:t>FEASIBILITY &amp;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Feasibility Study &amp; Comparative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818CF8"/>
                </a:solidFill>
                <a:latin typeface="Segoe UI"/>
              </a:defRPr>
            </a:pPr>
            <a:r>
              <a:t>Feasibility Assessment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Technical Feasibility: </a:t>
            </a:r>
            <a:r>
              <a:rPr b="0" sz="1200">
                <a:solidFill>
                  <a:srgbClr val="F8FAFC"/>
                </a:solidFill>
                <a:latin typeface="Segoe UI"/>
              </a:rPr>
              <a:t>Leverages dlib's ResNet-34 engine, yielding 99.38% Labeled Faces in the Wild accuracy. Employs frame resizing and frame decimation for standard CPU execution.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Economic Feasibility: </a:t>
            </a:r>
            <a:r>
              <a:rPr b="0" sz="1200">
                <a:solidFill>
                  <a:srgbClr val="F8FAFC"/>
                </a:solidFill>
                <a:latin typeface="Segoe UI"/>
              </a:rPr>
              <a:t>Built entirely on open-source packages (Python, Flask, OpenCV). Requires zero license costs and runs on existing computer and webcam hardware.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Operational Feasibility: </a:t>
            </a:r>
            <a:r>
              <a:rPr b="0" sz="1200">
                <a:solidFill>
                  <a:srgbClr val="F8FAFC"/>
                </a:solidFill>
                <a:latin typeface="Segoe UI"/>
              </a:rPr>
              <a:t>Requires no student training (frictionless walk-by). Standard Excel reports align with university administrative workflows.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55448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3855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818CF8"/>
                </a:solidFill>
                <a:latin typeface="Segoe UI"/>
              </a:defRPr>
            </a:pPr>
            <a:r>
              <a:t>Comparative Analysis (Manual vs Proposed)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Verification Speed: </a:t>
            </a:r>
            <a:r>
              <a:rPr b="0" sz="1200">
                <a:solidFill>
                  <a:srgbClr val="F8FAFC"/>
                </a:solidFill>
                <a:latin typeface="Segoe UI"/>
              </a:rPr>
              <a:t>Manual system requires 5-10 minutes. The proposed FaceID verifies student identities in milliseconds.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Security Integrity: </a:t>
            </a:r>
            <a:r>
              <a:rPr b="0" sz="1200">
                <a:solidFill>
                  <a:srgbClr val="F8FAFC"/>
                </a:solidFill>
                <a:latin typeface="Segoe UI"/>
              </a:rPr>
              <a:t>Manual registers have high proxy risk. The proposed system carries zero proxy risk via biometric checks.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Data Formatting: </a:t>
            </a:r>
            <a:r>
              <a:rPr b="0" sz="1200">
                <a:solidFill>
                  <a:srgbClr val="F8FAFC"/>
                </a:solidFill>
                <a:latin typeface="Segoe UI"/>
              </a:rPr>
              <a:t>Manual requires typing logs. Proposed generates styled multi-sheet Excel files with charts automatically.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Feedback Loop: </a:t>
            </a:r>
            <a:r>
              <a:rPr b="0" sz="1200">
                <a:solidFill>
                  <a:srgbClr val="F8FAFC"/>
                </a:solidFill>
                <a:latin typeface="Segoe UI"/>
              </a:rPr>
              <a:t>Manual records are offline. Proposed system pushes events instantly via WebSockets.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Segoe UI"/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Decoupled Hybrid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7432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818CF8"/>
                </a:solidFill>
                <a:latin typeface="Segoe UI"/>
              </a:defRPr>
            </a:pPr>
            <a:r>
              <a:t>Client Tier (Web SPA)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Vanilla Web UI: </a:t>
            </a:r>
            <a:r>
              <a:rPr b="0" sz="1200">
                <a:solidFill>
                  <a:srgbClr val="F8FAFC"/>
                </a:solidFill>
                <a:latin typeface="Segoe UI"/>
              </a:rPr>
              <a:t>Built with vanilla HTML5, CSS3, and JavaScript, avoiding heavy framework compiles.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WebRTC Capture: </a:t>
            </a:r>
            <a:r>
              <a:rPr b="0" sz="1200">
                <a:solidFill>
                  <a:srgbClr val="F8FAFC"/>
                </a:solidFill>
                <a:latin typeface="Segoe UI"/>
              </a:rPr>
              <a:t>Requests local camera streams via browser MediaDevices API for student photo registration.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Socket.IO client: </a:t>
            </a:r>
            <a:r>
              <a:rPr b="0" sz="1200">
                <a:solidFill>
                  <a:srgbClr val="F8FAFC"/>
                </a:solidFill>
                <a:latin typeface="Segoe UI"/>
              </a:rPr>
              <a:t>Streams base64-encoded JPEG frames and listens for real-time recognition logs.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9470" y="155448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23790" y="1828800"/>
            <a:ext cx="27432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818CF8"/>
                </a:solidFill>
                <a:latin typeface="Segoe UI"/>
              </a:defRPr>
            </a:pPr>
            <a:r>
              <a:t>Application Tier (Backend)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Flask Core Server: </a:t>
            </a:r>
            <a:r>
              <a:rPr b="0" sz="1200">
                <a:solidFill>
                  <a:srgbClr val="F8FAFC"/>
                </a:solidFill>
                <a:latin typeface="Segoe UI"/>
              </a:rPr>
              <a:t>Manages REST endpoints, hosts files, and executes server-side processes.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Camera Manager Thread: </a:t>
            </a:r>
            <a:r>
              <a:rPr b="0" sz="1200">
                <a:solidFill>
                  <a:srgbClr val="F8FAFC"/>
                </a:solidFill>
                <a:latin typeface="Segoe UI"/>
              </a:rPr>
              <a:t>Runs an active background capture loop to read raw webcam matrices.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ML Face Engine: </a:t>
            </a:r>
            <a:r>
              <a:rPr b="0" sz="1200">
                <a:solidFill>
                  <a:srgbClr val="F8FAFC"/>
                </a:solidFill>
                <a:latin typeface="Segoe UI"/>
              </a:rPr>
              <a:t>Drives facial bounding box detection, landmark alignment, and matching algorithms.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155448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42655" y="1828800"/>
            <a:ext cx="27432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818CF8"/>
                </a:solidFill>
                <a:latin typeface="Segoe UI"/>
              </a:defRPr>
            </a:pPr>
            <a:r>
              <a:t>Data Tier (Storage)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SQLite Database: </a:t>
            </a:r>
            <a:r>
              <a:rPr b="0" sz="1200">
                <a:solidFill>
                  <a:srgbClr val="F8FAFC"/>
                </a:solidFill>
                <a:latin typeface="Segoe UI"/>
              </a:rPr>
              <a:t>Local SQLite database storage supporting fast queries and self-contained deployments.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SQLAlchemy ORM: </a:t>
            </a:r>
            <a:r>
              <a:rPr b="0" sz="1200">
                <a:solidFill>
                  <a:srgbClr val="F8FAFC"/>
                </a:solidFill>
                <a:latin typeface="Segoe UI"/>
              </a:rPr>
              <a:t>Abstracts SQL database queries into clean Python objects with auto-migrations.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Photos Folder: </a:t>
            </a:r>
            <a:r>
              <a:rPr b="0" sz="1200">
                <a:solidFill>
                  <a:srgbClr val="F8FAFC"/>
                </a:solidFill>
                <a:latin typeface="Segoe UI"/>
              </a:rPr>
              <a:t>Stores student enrollment photos on local disk referenced by database paths.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Segoe UI"/>
              </a:defRPr>
            </a:pPr>
            <a:r>
              <a:t>COMPUTER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Core Machine Learning Verification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818CF8"/>
                </a:solidFill>
                <a:latin typeface="Segoe UI"/>
              </a:defRPr>
            </a:pPr>
            <a:r>
              <a:t>Verification Pipeline Steps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1. Bounding Box Detection: </a:t>
            </a:r>
            <a:r>
              <a:rPr b="0" sz="1200">
                <a:solidFill>
                  <a:srgbClr val="F8FAFC"/>
                </a:solidFill>
                <a:latin typeface="Segoe UI"/>
              </a:rPr>
              <a:t>Uses Histogram of Oriented Gradients (HOG) + Linear SVM to locate faces in a downsized resolution frame.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2. Landmark Alignment: </a:t>
            </a:r>
            <a:r>
              <a:rPr b="0" sz="1200">
                <a:solidFill>
                  <a:srgbClr val="F8FAFC"/>
                </a:solidFill>
                <a:latin typeface="Segoe UI"/>
              </a:rPr>
              <a:t>Predicts 68 key points (mapping eyes, eyebrows, nose, mouth). Applies affine shifts to center faces.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3. Vector Face Encoding: </a:t>
            </a:r>
            <a:r>
              <a:rPr b="0" sz="1200">
                <a:solidFill>
                  <a:srgbClr val="F8FAFC"/>
                </a:solidFill>
                <a:latin typeface="Segoe UI"/>
              </a:rPr>
              <a:t>Passes aligned face patches through a deep ResNet-34 convolutional neural network to produce a 128-D embedding vector.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4. Euclidean Match (L2): </a:t>
            </a:r>
            <a:r>
              <a:rPr b="0" sz="1200">
                <a:solidFill>
                  <a:srgbClr val="F8FAFC"/>
                </a:solidFill>
                <a:latin typeface="Segoe UI"/>
              </a:rPr>
              <a:t>Compares vectors against database templates, identifying student IDs based on the minimum Euclidean distance.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55448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3855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818CF8"/>
                </a:solidFill>
                <a:latin typeface="Segoe UI"/>
              </a:defRPr>
            </a:pPr>
            <a:r>
              <a:t>Algorithmic Mechanics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Scale Factor (0.25): </a:t>
            </a:r>
            <a:r>
              <a:rPr b="0" sz="1200">
                <a:solidFill>
                  <a:srgbClr val="F8FAFC"/>
                </a:solidFill>
                <a:latin typeface="Segoe UI"/>
              </a:rPr>
              <a:t>Downscales incoming frames to 25%, reducing total pixels processed by 16x. Increases execution speeds dramatically on standard CPUs.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Matching Tolerance (0.50): </a:t>
            </a:r>
            <a:r>
              <a:rPr b="0" sz="1200">
                <a:solidFill>
                  <a:srgbClr val="F8FAFC"/>
                </a:solidFill>
                <a:latin typeface="Segoe UI"/>
              </a:rPr>
              <a:t>Enforces a strict Euclidean threshold. Matches with distance &lt; 0.50 are confirmed. Prevents false positive identifications.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Confidence Formula: </a:t>
            </a:r>
            <a:r>
              <a:rPr b="0" sz="1200">
                <a:solidFill>
                  <a:srgbClr val="F8FAFC"/>
                </a:solidFill>
                <a:latin typeface="Segoe UI"/>
              </a:rPr>
              <a:t>Matching confidence score = (1.0 - Euclidean Distance). Higher values represent closer biometric matches.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Decimated Tracking: </a:t>
            </a:r>
            <a:r>
              <a:rPr b="0" sz="1200">
                <a:solidFill>
                  <a:srgbClr val="F8FAFC"/>
                </a:solidFill>
                <a:latin typeface="Segoe UI"/>
              </a:rPr>
              <a:t>Runs recognition on every 3rd frame, displaying cached bounding boxes on intermediate frames to save CPU load.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Segoe UI"/>
              </a:defRPr>
            </a:pPr>
            <a: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Anti-Spoofing &amp; Liveness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818CF8"/>
                </a:solidFill>
                <a:latin typeface="Segoe UI"/>
              </a:defRPr>
            </a:pPr>
            <a:r>
              <a:t>Blink Tracking Liveness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68-Point Facial Landmarks: </a:t>
            </a:r>
            <a:r>
              <a:rPr b="0" sz="1200">
                <a:solidFill>
                  <a:srgbClr val="F8FAFC"/>
                </a:solidFill>
                <a:latin typeface="Segoe UI"/>
              </a:rPr>
              <a:t>Leverages dlib landmark detection to locate exact coordinates of left and right eye outlines.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Eye Aspect Ratio (EAR): </a:t>
            </a:r>
            <a:r>
              <a:rPr b="0" sz="1200">
                <a:solidFill>
                  <a:srgbClr val="F8FAFC"/>
                </a:solidFill>
                <a:latin typeface="Segoe UI"/>
              </a:rPr>
              <a:t>Computes EAR = (d1 + d2) / (2.0 * d3), tracking eye openness. Detects blinks when EAR drops below threshold.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Isolated Blink States: </a:t>
            </a:r>
            <a:r>
              <a:rPr b="0" sz="1200">
                <a:solidFill>
                  <a:srgbClr val="F8FAFC"/>
                </a:solidFill>
                <a:latin typeface="Segoe UI"/>
              </a:rPr>
              <a:t>BlinkLivenessDetector manages separate states in memory keyed by student ID. Multiple students can blink-verify concurrently.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Frictionless Integration: </a:t>
            </a:r>
            <a:r>
              <a:rPr b="0" sz="1200">
                <a:solidFill>
                  <a:srgbClr val="F8FAFC"/>
                </a:solidFill>
                <a:latin typeface="Segoe UI"/>
              </a:rPr>
              <a:t>Blinks verify student presence automatically in the background without complex prompts.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55448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3855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818CF8"/>
                </a:solidFill>
                <a:latin typeface="Segoe UI"/>
              </a:defRPr>
            </a:pPr>
            <a:r>
              <a:t>Texture &amp; Reflection Analysis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Texture Analysis: </a:t>
            </a:r>
            <a:r>
              <a:rPr b="0" sz="1200">
                <a:solidFill>
                  <a:srgbClr val="F8FAFC"/>
                </a:solidFill>
                <a:latin typeface="Segoe UI"/>
              </a:rPr>
              <a:t>Runs print photo anti-spoof checks by extracting edge sharp-gradients using a Laplacian filter.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Laplacian Variance: </a:t>
            </a:r>
            <a:r>
              <a:rPr b="0" sz="1200">
                <a:solidFill>
                  <a:srgbClr val="F8FAFC"/>
                </a:solidFill>
                <a:latin typeface="Segoe UI"/>
              </a:rPr>
              <a:t>Calculates variance of the Laplacian of the face crop. Fails checks if variance is under 80.0 (detects flat paper prints).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HSV Glare Masking: </a:t>
            </a:r>
            <a:r>
              <a:rPr b="0" sz="1200">
                <a:solidFill>
                  <a:srgbClr val="F8FAFC"/>
                </a:solidFill>
                <a:latin typeface="Segoe UI"/>
              </a:rPr>
              <a:t>Detects digital screen reflections (tablet/phone spoofs) by transforming face crops to the HSV color space.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Reflection Thresholds: </a:t>
            </a:r>
            <a:r>
              <a:rPr b="0" sz="1200">
                <a:solidFill>
                  <a:srgbClr val="F8FAFC"/>
                </a:solidFill>
                <a:latin typeface="Segoe UI"/>
              </a:rPr>
              <a:t>Identifies high-value pixels (V &gt; 240) with low saturation (S &lt; 20), flagging active screen glares.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Segoe UI"/>
              </a:defRPr>
            </a:pPr>
            <a:r>
              <a:t>DATA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Relational Schema &amp; Database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818CF8"/>
                </a:solidFill>
                <a:latin typeface="Segoe UI"/>
              </a:defRPr>
            </a:pPr>
            <a:r>
              <a:t>Student Model (students table)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Primary Student Index: </a:t>
            </a:r>
            <a:r>
              <a:rPr b="0" sz="1200">
                <a:solidFill>
                  <a:srgbClr val="F8FAFC"/>
                </a:solidFill>
                <a:latin typeface="Segoe UI"/>
              </a:rPr>
              <a:t>Stores unique student enrollment IDs, names, emails, departments, and batches.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Face Encodings String: </a:t>
            </a:r>
            <a:r>
              <a:rPr b="0" sz="1200">
                <a:solidFill>
                  <a:srgbClr val="F8FAFC"/>
                </a:solidFill>
                <a:latin typeface="Segoe UI"/>
              </a:rPr>
              <a:t>Serializes 128-dimensional embedding vectors into JSON arrays stored in a TEXT column.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Onboarding Metadata: </a:t>
            </a:r>
            <a:r>
              <a:rPr b="0" sz="1200">
                <a:solidFill>
                  <a:srgbClr val="F8FAFC"/>
                </a:solidFill>
                <a:latin typeface="Segoe UI"/>
              </a:rPr>
              <a:t>Saves registration timestamps, local reference photo paths, and soft-delete active flags.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Soft Delete Flag (is_active): </a:t>
            </a:r>
            <a:r>
              <a:rPr b="0" sz="1200">
                <a:solidFill>
                  <a:srgbClr val="F8FAFC"/>
                </a:solidFill>
                <a:latin typeface="Segoe UI"/>
              </a:rPr>
              <a:t>Setting to False removes a student from recognition loops while preserving historical attendance logs.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55448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3855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818CF8"/>
                </a:solidFill>
                <a:latin typeface="Segoe UI"/>
              </a:defRPr>
            </a:pPr>
            <a:r>
              <a:t>Attendance Model (attendance table)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Check-In/Out Integration: </a:t>
            </a:r>
            <a:r>
              <a:rPr b="0" sz="1200">
                <a:solidFill>
                  <a:srgbClr val="F8FAFC"/>
                </a:solidFill>
                <a:latin typeface="Segoe UI"/>
              </a:rPr>
              <a:t>Stores check-in time. On subsequent detections on the same date, updates check-out time column instead of inserting rows.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Date Filtration Indexing: </a:t>
            </a:r>
            <a:r>
              <a:rPr b="0" sz="1200">
                <a:solidFill>
                  <a:srgbClr val="F8FAFC"/>
                </a:solidFill>
                <a:latin typeface="Segoe UI"/>
              </a:rPr>
              <a:t>Stores dates in YYYY-MM-DD strings, indexed for rapid query filtration on admin dashboards.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Match Statistics: </a:t>
            </a:r>
            <a:r>
              <a:rPr b="0" sz="1200">
                <a:solidFill>
                  <a:srgbClr val="F8FAFC"/>
                </a:solidFill>
                <a:latin typeface="Segoe UI"/>
              </a:rPr>
              <a:t>Logs L2 Euclidean match confidence scores, registration session classifications (Morning vs Afternoon).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Tardiness Status Tags: </a:t>
            </a:r>
            <a:r>
              <a:rPr b="0" sz="1200">
                <a:solidFill>
                  <a:srgbClr val="F8FAFC"/>
                </a:solidFill>
                <a:latin typeface="Segoe UI"/>
              </a:rPr>
              <a:t>Calculates student status flags (Present, Late, Absent) based on class check-in schedules (late after 09:15 AM).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Segoe UI"/>
              </a:defRPr>
            </a:pPr>
            <a:r>
              <a:t>TECHNICAL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Real-Time Web Flows: WebRTC &amp; Socket.IO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818CF8"/>
                </a:solidFill>
                <a:latin typeface="Segoe UI"/>
              </a:defRPr>
            </a:pPr>
            <a:r>
              <a:t>WebRTC Photo Registration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Browser Webcam Access: </a:t>
            </a:r>
            <a:r>
              <a:rPr b="0" sz="1200">
                <a:solidFill>
                  <a:srgbClr val="F8FAFC"/>
                </a:solidFill>
                <a:latin typeface="Segoe UI"/>
              </a:rPr>
              <a:t>Requests local media stream via browser MediaDevices API using getUserMedia (640x480 resolution).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Canvas Drawing: </a:t>
            </a:r>
            <a:r>
              <a:rPr b="0" sz="1200">
                <a:solidFill>
                  <a:srgbClr val="F8FAFC"/>
                </a:solidFill>
                <a:latin typeface="Segoe UI"/>
              </a:rPr>
              <a:t>Copies live video frame matrices onto a hidden HTML5 canvas element to extract compressed JPEGs.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Binary Form Uploads: </a:t>
            </a:r>
            <a:r>
              <a:rPr b="0" sz="1200">
                <a:solidFill>
                  <a:srgbClr val="F8FAFC"/>
                </a:solidFill>
                <a:latin typeface="Segoe UI"/>
              </a:rPr>
              <a:t>Outputs JPEG blobs wrapped inside virtual File objects, submitted as multipart Form data to register APIs.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Single-Face Enforcement: </a:t>
            </a:r>
            <a:r>
              <a:rPr b="0" sz="1200">
                <a:solidFill>
                  <a:srgbClr val="F8FAFC"/>
                </a:solidFill>
                <a:latin typeface="Segoe UI"/>
              </a:rPr>
              <a:t>The backend rejects registration images if the recognition engine detects 0 or multiple faces.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55448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3855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818CF8"/>
                </a:solidFill>
                <a:latin typeface="Segoe UI"/>
              </a:defRPr>
            </a:pPr>
            <a:r>
              <a:t>Socket.IO Video Streaming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Asynchronous Threading: </a:t>
            </a:r>
            <a:r>
              <a:rPr b="0" sz="1200">
                <a:solidFill>
                  <a:srgbClr val="F8FAFC"/>
                </a:solidFill>
                <a:latin typeface="Segoe UI"/>
              </a:rPr>
              <a:t>Background CameraManager thread fetches frames from hardware sensors using OpenCV cv2.VideoCapture(0).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BGR Bounding Box Drawing: </a:t>
            </a:r>
            <a:r>
              <a:rPr b="0" sz="1200">
                <a:solidFill>
                  <a:srgbClr val="F8FAFC"/>
                </a:solidFill>
                <a:latin typeface="Segoe UI"/>
              </a:rPr>
              <a:t>Draws green bounding boxes (matched student names) or red boxes (unknown faces) directly on frame matrices.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Base64 Serialization: </a:t>
            </a:r>
            <a:r>
              <a:rPr b="0" sz="1200">
                <a:solidFill>
                  <a:srgbClr val="F8FAFC"/>
                </a:solidFill>
                <a:latin typeface="Segoe UI"/>
              </a:rPr>
              <a:t>Compresses BGR frames into JPEG buffers, converts to Base64 ASCII strings, and emits them over Socket.IO.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Widescreen Rendering: </a:t>
            </a:r>
            <a:r>
              <a:rPr b="0" sz="1200">
                <a:solidFill>
                  <a:srgbClr val="F8FAFC"/>
                </a:solidFill>
                <a:latin typeface="Segoe UI"/>
              </a:rPr>
              <a:t>The frontend script receives base64 events and sets the live image element source without frame delays (~25 FPS).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Segoe UI"/>
              </a:defRPr>
            </a:pPr>
            <a:r>
              <a:t>ADMIN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Analytical Excel Report Generation (openpyxl)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818CF8"/>
                </a:solidFill>
                <a:latin typeface="Segoe UI"/>
              </a:defRPr>
            </a:pPr>
            <a:r>
              <a:t>Workbook Architecture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Summary Dashboard Sheet: </a:t>
            </a:r>
            <a:r>
              <a:rPr b="0" sz="1200">
                <a:solidFill>
                  <a:srgbClr val="F8FAFC"/>
                </a:solidFill>
                <a:latin typeface="Segoe UI"/>
              </a:rPr>
              <a:t>Contains formatted KPI metric cards displaying overall totals, attendance rates, lateness percentages, and absences.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7-Day Trend Visual Chart: </a:t>
            </a:r>
            <a:r>
              <a:rPr b="0" sz="1200">
                <a:solidFill>
                  <a:srgbClr val="F8FAFC"/>
                </a:solidFill>
                <a:latin typeface="Segoe UI"/>
              </a:rPr>
              <a:t>Generates an Excel BarChart dynamically linking columns to attendance data trends on the sheet.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Daily Logs Sheet: </a:t>
            </a:r>
            <a:r>
              <a:rPr b="0" sz="1200">
                <a:solidFill>
                  <a:srgbClr val="F8FAFC"/>
                </a:solidFill>
                <a:latin typeface="Segoe UI"/>
              </a:rPr>
              <a:t>Renders detailed student logs showing check-in times, check-out times, session tags, and confidence scores.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Student Aggregates Sheet: </a:t>
            </a:r>
            <a:r>
              <a:rPr b="0" sz="1200">
                <a:solidFill>
                  <a:srgbClr val="F8FAFC"/>
                </a:solidFill>
                <a:latin typeface="Segoe UI"/>
              </a:rPr>
              <a:t>Compiles student tables (total classes, times present, late counters, and average verification confidence).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55448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3855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818CF8"/>
                </a:solidFill>
                <a:latin typeface="Segoe UI"/>
              </a:defRPr>
            </a:pPr>
            <a:r>
              <a:t>openpyxl Styling Mechanics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Theme-Styled Tables: </a:t>
            </a:r>
            <a:r>
              <a:rPr b="0" sz="1200">
                <a:solidFill>
                  <a:srgbClr val="F8FAFC"/>
                </a:solidFill>
                <a:latin typeface="Segoe UI"/>
              </a:rPr>
              <a:t>Applies navy header background fills with white bold typography for professional table presentation.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Status Cell Fills: </a:t>
            </a:r>
            <a:r>
              <a:rPr b="0" sz="1200">
                <a:solidFill>
                  <a:srgbClr val="F8FAFC"/>
                </a:solidFill>
                <a:latin typeface="Segoe UI"/>
              </a:rPr>
              <a:t>Uses color-coded cells (Green fills for Present, Orange for Late, Red for Absent) for fast scanning.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Column Auto-Fitting: </a:t>
            </a:r>
            <a:r>
              <a:rPr b="0" sz="1200">
                <a:solidFill>
                  <a:srgbClr val="F8FAFC"/>
                </a:solidFill>
                <a:latin typeface="Segoe UI"/>
              </a:rPr>
              <a:t>Iterates columns and adjusts sheet widths based on character lengths, preventing cropped cells.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Native Formula Integration: </a:t>
            </a:r>
            <a:r>
              <a:rPr b="0" sz="1200">
                <a:solidFill>
                  <a:srgbClr val="F8FAFC"/>
                </a:solidFill>
                <a:latin typeface="Segoe UI"/>
              </a:rPr>
              <a:t>Inserts Excel formulas (AVERAGE, COUNTIF) to verify database metrics directly inside sheets.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Segoe UI"/>
              </a:defRPr>
            </a:pPr>
            <a:r>
              <a:t>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Performance Optimization &amp; System Reliability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818CF8"/>
                </a:solidFill>
                <a:latin typeface="Segoe UI"/>
              </a:defRPr>
            </a:pPr>
            <a:r>
              <a:t>Computational Optimization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Frame Scaling Factor: </a:t>
            </a:r>
            <a:r>
              <a:rPr b="0" sz="1200">
                <a:solidFill>
                  <a:srgbClr val="F8FAFC"/>
                </a:solidFill>
                <a:latin typeface="Segoe UI"/>
              </a:rPr>
              <a:t>Reduces frame inputs to 25% (scale_factor=0.25) during detection, yielding a 16x speedup. Standard CPU loads drop significantly.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Process Decimation: </a:t>
            </a:r>
            <a:r>
              <a:rPr b="0" sz="1200">
                <a:solidFill>
                  <a:srgbClr val="F8FAFC"/>
                </a:solidFill>
                <a:latin typeface="Segoe UI"/>
              </a:rPr>
              <a:t>Performs face recognition matching on every 3rd frame, displaying previous bounding boxes in between to save computing power.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Memory-Cached Encodings: </a:t>
            </a:r>
            <a:r>
              <a:rPr b="0" sz="1200">
                <a:solidFill>
                  <a:srgbClr val="F8FAFC"/>
                </a:solidFill>
                <a:latin typeface="Segoe UI"/>
              </a:rPr>
              <a:t>Loads registered face vectors into RAM. Eliminates recurring SQLite reads, achieving sub-millisecond match lookups.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55448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3855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818CF8"/>
                </a:solidFill>
                <a:latin typeface="Segoe UI"/>
              </a:defRPr>
            </a:pPr>
            <a:r>
              <a:t>Transaction &amp; Reliability Safeguards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30-Second Match Cooldown: </a:t>
            </a:r>
            <a:r>
              <a:rPr b="0" sz="1200">
                <a:solidFill>
                  <a:srgbClr val="F8FAFC"/>
                </a:solidFill>
                <a:latin typeface="Segoe UI"/>
              </a:rPr>
              <a:t>Applies detection write cooldowns. Prevents transaction floods and duplicate commits if a student stands in front of the camera.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Database Locks Mitigation: </a:t>
            </a:r>
            <a:r>
              <a:rPr b="0" sz="1200">
                <a:solidFill>
                  <a:srgbClr val="F8FAFC"/>
                </a:solidFill>
                <a:latin typeface="Segoe UI"/>
              </a:rPr>
              <a:t>Configures SQLite with Write-Ahead Logging (WAL). Enables simultaneous database reads and writes.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Transaction Rollbacks: </a:t>
            </a:r>
            <a:r>
              <a:rPr b="0" sz="1200">
                <a:solidFill>
                  <a:srgbClr val="F8FAFC"/>
                </a:solidFill>
                <a:latin typeface="Segoe UI"/>
              </a:rPr>
              <a:t>Handles registration uploads inside database transactions. Rolls back database inserts if disk photo writes fail.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Segoe UI"/>
              </a:defRPr>
            </a:pPr>
            <a:r>
              <a:t>ROADMAPS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Conclusion &amp; Future System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818CF8"/>
                </a:solidFill>
                <a:latin typeface="Segoe UI"/>
              </a:defRPr>
            </a:pPr>
            <a:r>
              <a:t>Key Project Conclusions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Automated Efficiency: </a:t>
            </a:r>
            <a:r>
              <a:rPr b="0" sz="1200">
                <a:solidFill>
                  <a:srgbClr val="F8FAFC"/>
                </a:solidFill>
                <a:latin typeface="Segoe UI"/>
              </a:rPr>
              <a:t>The system successfully automates student tracking at CPGS, OUAT. Eliminates paper records and roll calls.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Reliable Biometrics: </a:t>
            </a:r>
            <a:r>
              <a:rPr b="0" sz="1200">
                <a:solidFill>
                  <a:srgbClr val="F8FAFC"/>
                </a:solidFill>
                <a:latin typeface="Segoe UI"/>
              </a:rPr>
              <a:t>Yields high-precision recognition using dlib metric learning. Mitigates proxies via blink and texture analyses.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Glassmorphic Dark Theme: </a:t>
            </a:r>
            <a:r>
              <a:rPr b="0" sz="1200">
                <a:solidFill>
                  <a:srgbClr val="F8FAFC"/>
                </a:solidFill>
                <a:latin typeface="Segoe UI"/>
              </a:rPr>
              <a:t>Provides modern UI layouts with real-time feedback loops. Features professional multi-sheet Excel exports.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55448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3855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818CF8"/>
                </a:solidFill>
                <a:latin typeface="Segoe UI"/>
              </a:defRPr>
            </a:pPr>
            <a:r>
              <a:t>Future Scope Roadmap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Edge Camera Clustering: </a:t>
            </a:r>
            <a:r>
              <a:rPr b="0" sz="1200">
                <a:solidFill>
                  <a:srgbClr val="F8FAFC"/>
                </a:solidFill>
                <a:latin typeface="Segoe UI"/>
              </a:rPr>
              <a:t>Deploy multiple local camera sensor units reporting to a central backend Flask API server.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Notifications Integration: </a:t>
            </a:r>
            <a:r>
              <a:rPr b="0" sz="1200">
                <a:solidFill>
                  <a:srgbClr val="F8FAFC"/>
                </a:solidFill>
                <a:latin typeface="Segoe UI"/>
              </a:rPr>
              <a:t>Send automatic SMS or email alerts to students and departments when check-ins are logged.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PWA Companion App: </a:t>
            </a:r>
            <a:r>
              <a:rPr b="0" sz="1200">
                <a:solidFill>
                  <a:srgbClr val="F8FAFC"/>
                </a:solidFill>
                <a:latin typeface="Segoe UI"/>
              </a:rPr>
              <a:t>Develop Progressive Web Apps enabling faculty to view dashboard logs and mark manual overrides from mobile devices.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Micro-expression Analysis: </a:t>
            </a:r>
            <a:r>
              <a:rPr b="0" sz="1200">
                <a:solidFill>
                  <a:srgbClr val="F8FAFC"/>
                </a:solidFill>
                <a:latin typeface="Segoe UI"/>
              </a:rPr>
              <a:t>Incorporate neural networks tracking micro-movements to detect advanced screen video spoofs.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